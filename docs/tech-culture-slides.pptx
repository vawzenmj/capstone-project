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3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E" b="1" dirty="0"/>
              <a:t>The </a:t>
            </a:r>
            <a:r>
              <a:rPr lang="en-KE" b="1" dirty="0" smtClean="0"/>
              <a:t>Adinkra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KE" b="1" dirty="0" smtClean="0"/>
              <a:t>Protocol</a:t>
            </a:r>
            <a:endParaRPr lang="en-K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KE" b="1" dirty="0"/>
              <a:t>African Cryptography and Cultural Communication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310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/>
              <a:t>The Logic of the Symbol (System Architecture)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Logic of the Symbol (System Architecture)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Concept:</a:t>
            </a:r>
            <a:r>
              <a:rPr lang="en-US" dirty="0"/>
              <a:t> Introduction to the </a:t>
            </a:r>
            <a:r>
              <a:rPr lang="en-US" dirty="0" err="1"/>
              <a:t>Adinkra</a:t>
            </a:r>
            <a:r>
              <a:rPr lang="en-US" dirty="0"/>
              <a:t> "System of Systems."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Technical Link:</a:t>
            </a:r>
            <a:r>
              <a:rPr lang="en-US" dirty="0"/>
              <a:t> In System Architecture, we define how modular components interact to create a functional whole. Similarly, </a:t>
            </a:r>
            <a:r>
              <a:rPr lang="en-US" dirty="0" err="1"/>
              <a:t>Adinkra</a:t>
            </a:r>
            <a:r>
              <a:rPr lang="en-US" dirty="0"/>
              <a:t> is not a collection of random icons; it is a visual language where each symbol represents a specific "module" of social or political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Insight:</a:t>
            </a:r>
            <a:r>
              <a:rPr lang="en-US" dirty="0"/>
              <a:t> </a:t>
            </a:r>
            <a:r>
              <a:rPr lang="en-US" dirty="0" err="1"/>
              <a:t>Adinkra</a:t>
            </a:r>
            <a:r>
              <a:rPr lang="en-US" dirty="0"/>
              <a:t> defines the protocol for human-to-state interaction, much like an API defines interaction between software services.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4634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Origin &amp; Encoding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Concept: The Asante Empire (Modern-day Ghana) and the birth of a visual </a:t>
            </a:r>
            <a:r>
              <a:rPr lang="en-US" dirty="0" err="1"/>
              <a:t>standard.Technical</a:t>
            </a:r>
            <a:r>
              <a:rPr lang="en-US" dirty="0"/>
              <a:t> Parallel: Character </a:t>
            </a:r>
            <a:r>
              <a:rPr lang="en-US" dirty="0" err="1"/>
              <a:t>Encoding.Content</a:t>
            </a:r>
            <a:r>
              <a:rPr lang="en-US" dirty="0"/>
              <a:t>: </a:t>
            </a:r>
            <a:r>
              <a:rPr lang="en-US" dirty="0" err="1"/>
              <a:t>Adinkra</a:t>
            </a:r>
            <a:r>
              <a:rPr lang="en-US" dirty="0"/>
              <a:t> symbols are essentially the "ASCII" of West African philosophy. They represent a standardized, compressed way to store and transmit complex philosophical data. By "encoding" a value into a symbol, the Asante created a high-bandwidth communication system that survives even when the oral tradition is interrupted.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1234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Sankofa</a:t>
            </a:r>
            <a:r>
              <a:rPr lang="en-US" b="1" dirty="0" smtClean="0"/>
              <a:t>– </a:t>
            </a:r>
            <a:r>
              <a:rPr lang="en-US" b="1" dirty="0"/>
              <a:t>Redundancy and Disaster Recovery</a:t>
            </a:r>
            <a:br>
              <a:rPr lang="en-US" b="1" dirty="0"/>
            </a:b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"Symbol</a:t>
            </a:r>
            <a:r>
              <a:rPr lang="en-US" b="1" dirty="0"/>
              <a:t>:</a:t>
            </a:r>
            <a:r>
              <a:rPr lang="en-US" dirty="0"/>
              <a:t> A bird reaching back for an egg while its feet face forward.</a:t>
            </a:r>
          </a:p>
          <a:p>
            <a:r>
              <a:rPr lang="en-US" b="1" dirty="0"/>
              <a:t>Networking Link: Business Continuity Planning (BCP).</a:t>
            </a:r>
            <a:endParaRPr lang="en-US" dirty="0"/>
          </a:p>
          <a:p>
            <a:r>
              <a:rPr lang="en-US" b="1" dirty="0"/>
              <a:t>Content:</a:t>
            </a:r>
            <a:r>
              <a:rPr lang="en-US" dirty="0"/>
              <a:t> In networking, the only way to move forward after a ransomware attack or a catastrophic server failure is to "reach back" into the past.</a:t>
            </a:r>
          </a:p>
          <a:p>
            <a:r>
              <a:rPr lang="en-US" b="1" dirty="0"/>
              <a:t>Key Takeaway:</a:t>
            </a:r>
            <a:r>
              <a:rPr lang="en-US" dirty="0"/>
              <a:t> </a:t>
            </a:r>
            <a:r>
              <a:rPr lang="en-US" dirty="0" err="1"/>
              <a:t>Sankofa</a:t>
            </a:r>
            <a:r>
              <a:rPr lang="en-US" dirty="0"/>
              <a:t> represents the </a:t>
            </a:r>
            <a:r>
              <a:rPr lang="en-US" b="1" dirty="0"/>
              <a:t>Backup and Restore</a:t>
            </a:r>
            <a:r>
              <a:rPr lang="en-US" dirty="0"/>
              <a:t> protocol. Without historical data (the egg), the future (the bird's path) is lost.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1487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Gye</a:t>
            </a:r>
            <a:r>
              <a:rPr lang="en-US" dirty="0" smtClean="0"/>
              <a:t> </a:t>
            </a:r>
            <a:r>
              <a:rPr lang="en-US" dirty="0" err="1" smtClean="0"/>
              <a:t>Nyame</a:t>
            </a:r>
            <a:r>
              <a:rPr lang="en-US" dirty="0" smtClean="0"/>
              <a:t> </a:t>
            </a:r>
            <a:r>
              <a:rPr lang="en-US" dirty="0"/>
              <a:t>– The Root of Trust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Two interlocking spirals/hands representing God's supremacy</a:t>
            </a:r>
            <a:r>
              <a:rPr lang="en-US" dirty="0" smtClean="0"/>
              <a:t>. Cybersecurity </a:t>
            </a:r>
            <a:r>
              <a:rPr lang="en-US" dirty="0"/>
              <a:t>Link: Root Certificate Authorities (CA</a:t>
            </a:r>
            <a:r>
              <a:rPr lang="en-US" dirty="0" smtClean="0"/>
              <a:t>)</a:t>
            </a:r>
          </a:p>
          <a:p>
            <a:r>
              <a:rPr lang="en-US" dirty="0" smtClean="0"/>
              <a:t>.</a:t>
            </a:r>
            <a:r>
              <a:rPr lang="en-US" dirty="0"/>
              <a:t>Content: Every Public Key Infrastructure (PKI) relies on a "Root." If the Root CA is compromised, the entire chain of trust for every website and encrypted message fails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</a:t>
            </a:r>
            <a:r>
              <a:rPr lang="en-US" dirty="0" err="1"/>
              <a:t>Gye</a:t>
            </a:r>
            <a:r>
              <a:rPr lang="en-US" dirty="0"/>
              <a:t> </a:t>
            </a:r>
            <a:r>
              <a:rPr lang="en-US" dirty="0" err="1"/>
              <a:t>Nyame</a:t>
            </a:r>
            <a:r>
              <a:rPr lang="en-US" dirty="0"/>
              <a:t> is the ultimate "Root of Trust." It is the foundational authority from which all other digital permissions flow.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2294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Anansentan</a:t>
            </a:r>
            <a:r>
              <a:rPr lang="en-US" dirty="0" smtClean="0"/>
              <a:t>– </a:t>
            </a:r>
            <a:r>
              <a:rPr lang="en-US" dirty="0"/>
              <a:t>Mesh Topology &amp; Wisdom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Symbol:</a:t>
            </a:r>
            <a:r>
              <a:rPr lang="en-US" dirty="0"/>
              <a:t> The Spider’s Web (The web of Anansi).</a:t>
            </a:r>
          </a:p>
          <a:p>
            <a:r>
              <a:rPr lang="en-US" b="1" dirty="0"/>
              <a:t>Networking Link: Dynamic Routing (OSPF/EIGRP).</a:t>
            </a:r>
            <a:endParaRPr lang="en-US" dirty="0"/>
          </a:p>
          <a:p>
            <a:r>
              <a:rPr lang="en-US" b="1" dirty="0"/>
              <a:t>Content:</a:t>
            </a:r>
            <a:r>
              <a:rPr lang="en-US" dirty="0"/>
              <a:t> A spider’s web is the perfect natural representation of a </a:t>
            </a:r>
            <a:r>
              <a:rPr lang="en-US" b="1" dirty="0"/>
              <a:t>Full Mesh Topology</a:t>
            </a:r>
            <a:r>
              <a:rPr lang="en-US" dirty="0"/>
              <a:t>.</a:t>
            </a:r>
          </a:p>
          <a:p>
            <a:r>
              <a:rPr lang="en-US" b="1" dirty="0"/>
              <a:t>Key Takeaway:</a:t>
            </a:r>
            <a:r>
              <a:rPr lang="en-US" dirty="0"/>
              <a:t> Just as a spider senses vibrations to find the shortest path to its prey, protocols like OSPF calculate the "cost" of a path. If one strand of the web breaks, the network self-heals by rerouting through adjacent strands.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25359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Sepow</a:t>
            </a:r>
            <a:r>
              <a:rPr lang="en-US" dirty="0" smtClean="0"/>
              <a:t> </a:t>
            </a:r>
            <a:r>
              <a:rPr lang="en-US" dirty="0"/>
              <a:t>– Encryption &amp; Non-Repudiation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Symbol:</a:t>
            </a:r>
            <a:r>
              <a:rPr lang="en-US" dirty="0"/>
              <a:t> A knife thrust through a speaker's tongue.</a:t>
            </a:r>
          </a:p>
          <a:p>
            <a:r>
              <a:rPr lang="en-US" b="1" dirty="0"/>
              <a:t>Cybersecurity Link: Digital Signatures.</a:t>
            </a:r>
            <a:endParaRPr lang="en-US" dirty="0"/>
          </a:p>
          <a:p>
            <a:r>
              <a:rPr lang="en-US" b="1" dirty="0"/>
              <a:t>Content:</a:t>
            </a:r>
            <a:r>
              <a:rPr lang="en-US" dirty="0"/>
              <a:t> In Asante culture, the </a:t>
            </a:r>
            <a:r>
              <a:rPr lang="en-US" i="1" dirty="0" err="1"/>
              <a:t>Sepow</a:t>
            </a:r>
            <a:r>
              <a:rPr lang="en-US" dirty="0"/>
              <a:t> was used to prevent a person from retracting an oath.</a:t>
            </a:r>
          </a:p>
          <a:p>
            <a:r>
              <a:rPr lang="en-US" b="1" dirty="0"/>
              <a:t>Key Takeaway:</a:t>
            </a:r>
            <a:r>
              <a:rPr lang="en-US" dirty="0"/>
              <a:t> In cybersecurity, this is </a:t>
            </a:r>
            <a:r>
              <a:rPr lang="en-US" b="1" dirty="0"/>
              <a:t>Non-Repudiation</a:t>
            </a:r>
            <a:r>
              <a:rPr lang="en-US" dirty="0"/>
              <a:t>. Using Private Keys and Digital Signatures ensures that once a message is sent, the "sender" cannot deny it. The cryptographic "knife" seals the validity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346991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Duafe</a:t>
            </a:r>
            <a:r>
              <a:rPr lang="en-US" dirty="0" smtClean="0"/>
              <a:t> </a:t>
            </a:r>
            <a:r>
              <a:rPr lang="en-US" dirty="0"/>
              <a:t>– Beauty and System Hardening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Wooden Comb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Specialization </a:t>
            </a:r>
            <a:r>
              <a:rPr lang="en-US" dirty="0"/>
              <a:t>Link: Code Optimization and System Hardening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A comb removes tangles, dirt, and unnecessary bulk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"Hardening" a server involves removing unnecessary services, closing unused ports, and "combing through" code to remove vulnerabilities. A "clean" system is a secure system.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8938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Nkyinkyim</a:t>
            </a:r>
            <a:r>
              <a:rPr lang="en-US" dirty="0" smtClean="0"/>
              <a:t>– </a:t>
            </a:r>
            <a:r>
              <a:rPr lang="en-US" dirty="0"/>
              <a:t>Agility and The Hacker Mindset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Twisted Pattern (The zigzag path of life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Cybersecurity </a:t>
            </a:r>
            <a:r>
              <a:rPr lang="en-US" dirty="0"/>
              <a:t>Link: Penetration Testing &amp; Red Teaming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Attackers never move in a straight line toward the firewall; they pivot, escalate privileges, and find "zigzag" </a:t>
            </a:r>
            <a:r>
              <a:rPr lang="en-US" dirty="0" smtClean="0"/>
              <a:t>entries</a:t>
            </a:r>
          </a:p>
          <a:p>
            <a:r>
              <a:rPr lang="en-US" dirty="0" smtClean="0"/>
              <a:t>.</a:t>
            </a:r>
            <a:r>
              <a:rPr lang="en-US" dirty="0"/>
              <a:t>Key Takeaway: To defend a network, we must adopt the </a:t>
            </a:r>
            <a:r>
              <a:rPr lang="en-US" dirty="0" err="1"/>
              <a:t>Nkyinkyim</a:t>
            </a:r>
            <a:r>
              <a:rPr lang="en-US" dirty="0"/>
              <a:t> mindset—expecting the "twist" and being agile enough to follow an attacker’s non-linear path.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846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Akoben</a:t>
            </a:r>
            <a:r>
              <a:rPr lang="en-US" dirty="0" smtClean="0"/>
              <a:t> </a:t>
            </a:r>
            <a:r>
              <a:rPr lang="en-US" dirty="0"/>
              <a:t>– Incident Response &amp; Alarms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War </a:t>
            </a:r>
            <a:r>
              <a:rPr lang="en-US" dirty="0" err="1"/>
              <a:t>Horn.Networking</a:t>
            </a:r>
            <a:r>
              <a:rPr lang="en-US" dirty="0"/>
              <a:t> Link: IDS/IPS (Intrusion Detection/Prevention</a:t>
            </a:r>
            <a:r>
              <a:rPr lang="en-US" dirty="0" smtClean="0"/>
              <a:t>).</a:t>
            </a:r>
          </a:p>
          <a:p>
            <a:r>
              <a:rPr lang="en-US" dirty="0" smtClean="0"/>
              <a:t>Content</a:t>
            </a:r>
            <a:r>
              <a:rPr lang="en-US" dirty="0"/>
              <a:t>: The </a:t>
            </a:r>
            <a:r>
              <a:rPr lang="en-US" dirty="0" err="1"/>
              <a:t>Akoben</a:t>
            </a:r>
            <a:r>
              <a:rPr lang="en-US" dirty="0"/>
              <a:t> was sounded to mobilize the community during an invasion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In a modern Security Operations Center (SOC), the </a:t>
            </a:r>
            <a:r>
              <a:rPr lang="en-US" dirty="0" err="1"/>
              <a:t>Akoben</a:t>
            </a:r>
            <a:r>
              <a:rPr lang="en-US" dirty="0"/>
              <a:t> represents the automated alerts triggered when a signature-based intrusion is detected. It is the call to action for the Incident Response team.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6329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 </a:t>
            </a:r>
            <a:r>
              <a:rPr lang="en-US" dirty="0" smtClean="0"/>
              <a:t>Masie– </a:t>
            </a:r>
            <a:r>
              <a:rPr lang="en-US" dirty="0"/>
              <a:t>Knowledge Management &amp; Data Storage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Four joined circles ("I have heard and I keep</a:t>
            </a:r>
            <a:r>
              <a:rPr lang="en-US" dirty="0" smtClean="0"/>
              <a:t>").</a:t>
            </a:r>
          </a:p>
          <a:p>
            <a:r>
              <a:rPr lang="en-US" dirty="0" smtClean="0"/>
              <a:t>Technical </a:t>
            </a:r>
            <a:r>
              <a:rPr lang="en-US" dirty="0"/>
              <a:t>Link: Database Integrity and Data Privacy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This symbol represents the "Keeping" of information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Secure data storage requires the "four circles" of the CIA Triad (Confidentiality, Integrity, Availability) plus Privacy. Mate Masie is the African precursor to the GDPR logic: respect for the data you have "heard" and "kept."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49938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Nyame</a:t>
            </a:r>
            <a:r>
              <a:rPr lang="en-US" dirty="0"/>
              <a:t> </a:t>
            </a:r>
            <a:r>
              <a:rPr lang="en-US" dirty="0" err="1" smtClean="0"/>
              <a:t>Nti</a:t>
            </a:r>
            <a:r>
              <a:rPr lang="en-US" dirty="0" smtClean="0"/>
              <a:t>– </a:t>
            </a:r>
            <a:r>
              <a:rPr lang="en-US" dirty="0"/>
              <a:t>Power Supply and Availability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Stalk of a </a:t>
            </a:r>
            <a:r>
              <a:rPr lang="en-US" dirty="0" err="1"/>
              <a:t>Plant.Networking</a:t>
            </a:r>
            <a:r>
              <a:rPr lang="en-US" dirty="0"/>
              <a:t> Link: High Availability (HA) and UPS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A plant cannot grow without a constant source of nutrients (Power</a:t>
            </a:r>
            <a:r>
              <a:rPr lang="en-US" dirty="0" smtClean="0"/>
              <a:t>).</a:t>
            </a:r>
          </a:p>
          <a:p>
            <a:r>
              <a:rPr lang="en-US" dirty="0" smtClean="0"/>
              <a:t>Key </a:t>
            </a:r>
            <a:r>
              <a:rPr lang="en-US" dirty="0"/>
              <a:t>Takeaway: In the CIA Triad, "Availability" is often the most overlooked. This symbol represents the "grace" of constant uptime, redundant power supplies (UPS), and ensuring the "stalk" of the network never withers.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495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Eban</a:t>
            </a:r>
            <a:r>
              <a:rPr lang="en-US" dirty="0" smtClean="0"/>
              <a:t> </a:t>
            </a:r>
            <a:r>
              <a:rPr lang="en-US" dirty="0"/>
              <a:t>– The Firewall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Fence (Symbol of love, safety, and security).Cybersecurity Link: Network Firewalls and DMZs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A fence defines the "Perimeter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"</a:t>
            </a:r>
            <a:r>
              <a:rPr lang="en-US" dirty="0"/>
              <a:t>Key Takeaway: The </a:t>
            </a:r>
            <a:r>
              <a:rPr lang="en-US" dirty="0" err="1"/>
              <a:t>Eban</a:t>
            </a:r>
            <a:r>
              <a:rPr lang="en-US" dirty="0"/>
              <a:t> separates the Trusted Internal Network (the home) from the Untrusted External Internet (the wild). A firewall is simply a digital </a:t>
            </a:r>
            <a:r>
              <a:rPr lang="en-US" dirty="0" err="1"/>
              <a:t>Eban</a:t>
            </a:r>
            <a:r>
              <a:rPr lang="en-US" dirty="0"/>
              <a:t> that decides who is allowed to enter the "fence."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9477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Mpatapo</a:t>
            </a:r>
            <a:r>
              <a:rPr lang="en-US" dirty="0" smtClean="0"/>
              <a:t> </a:t>
            </a:r>
            <a:r>
              <a:rPr lang="en-US" dirty="0"/>
              <a:t>– Conflict Resolution &amp; VPNs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Pacification Knot (The knot of reconciliation).Technical Link: The TCP 3-Way Handshake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How do two strange nodes agree to talk? They "tie a knot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Whether it's a VPN tunnel or a TCP handshake, the </a:t>
            </a:r>
            <a:r>
              <a:rPr lang="en-US" dirty="0" err="1"/>
              <a:t>Mpatapo</a:t>
            </a:r>
            <a:r>
              <a:rPr lang="en-US" dirty="0"/>
              <a:t> represents the "agreement" (SYN, SYN-ACK, ACK) that allows data to flow peacefully between two points.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85748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Hwe</a:t>
            </a:r>
            <a:r>
              <a:rPr lang="en-US" dirty="0"/>
              <a:t> Mu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/>
              <a:t>– Quality Control and Benchmarking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Symbol: The Measuring </a:t>
            </a:r>
            <a:r>
              <a:rPr lang="en-US" dirty="0" err="1"/>
              <a:t>Stick.Networking</a:t>
            </a:r>
            <a:r>
              <a:rPr lang="en-US" dirty="0"/>
              <a:t> Link: </a:t>
            </a:r>
            <a:r>
              <a:rPr lang="en-US" dirty="0" err="1"/>
              <a:t>QoS</a:t>
            </a:r>
            <a:r>
              <a:rPr lang="en-US" dirty="0"/>
              <a:t> (Quality of Service) and </a:t>
            </a:r>
            <a:r>
              <a:rPr lang="en-US" dirty="0" smtClean="0"/>
              <a:t>SLAs</a:t>
            </a:r>
          </a:p>
          <a:p>
            <a:r>
              <a:rPr lang="en-US" dirty="0" smtClean="0"/>
              <a:t>.</a:t>
            </a:r>
            <a:r>
              <a:rPr lang="en-US" dirty="0"/>
              <a:t>Content: You cannot manage what you cannot measure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Takeaway: We use "measuring sticks" (benchmarking tools) to ensure our network meets the Service Level Agreement (SLA). This ensures the "straightness" and quality of the digital service.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50400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Awareness in Digital Spaces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Concept: The Digital Divide and Inclusive Design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</a:t>
            </a:r>
            <a:r>
              <a:rPr lang="en-US" dirty="0"/>
              <a:t>: </a:t>
            </a:r>
            <a:r>
              <a:rPr lang="en-US" dirty="0" err="1"/>
              <a:t>Adinkra</a:t>
            </a:r>
            <a:r>
              <a:rPr lang="en-US" dirty="0"/>
              <a:t> was a communal language used by all genders in Asante society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Thesis</a:t>
            </a:r>
            <a:r>
              <a:rPr lang="en-US" dirty="0"/>
              <a:t>: Sustainable security requires Gender-Awareness. Social engineering attacks often target demographics differently. By including diverse perspectives in IT teams, we identify vulnerabilities that a monoculture would miss. Technology must be as inclusive as the culture it stems from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38246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Cyber-</a:t>
            </a:r>
            <a:r>
              <a:rPr lang="en-US" dirty="0" err="1"/>
              <a:t>Adinkra</a:t>
            </a:r>
            <a:r>
              <a:rPr lang="en-US" dirty="0"/>
              <a:t> </a:t>
            </a:r>
            <a:r>
              <a:rPr lang="en-US" dirty="0" smtClean="0"/>
              <a:t>Future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Conclusion-African </a:t>
            </a:r>
            <a:r>
              <a:rPr lang="en-US" dirty="0"/>
              <a:t>culture is not "low-tech"; it is "pre-tech." Its logic is perfectly compatible with binary systems, cryptography, and network theory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Final </a:t>
            </a:r>
            <a:r>
              <a:rPr lang="en-US" dirty="0"/>
              <a:t>Thought: As an IT professional, I see </a:t>
            </a:r>
            <a:r>
              <a:rPr lang="en-US" dirty="0" err="1"/>
              <a:t>Adinkra</a:t>
            </a:r>
            <a:r>
              <a:rPr lang="en-US" dirty="0"/>
              <a:t> not just as art, but as an encrypted legacy. Our mission is to build modern systems that are as resilient, symbolic, and secure as the Asante "</a:t>
            </a:r>
            <a:r>
              <a:rPr lang="en-US" dirty="0" err="1"/>
              <a:t>Adinkra</a:t>
            </a:r>
            <a:r>
              <a:rPr lang="en-US" dirty="0"/>
              <a:t> Protocol."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996074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1312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The Adinkra Protocol</vt:lpstr>
      <vt:lpstr>The Logic of the Symbol (System Architecture)</vt:lpstr>
      <vt:lpstr>Historical Origin &amp; Encoding</vt:lpstr>
      <vt:lpstr>Sankofa– Redundancy and Disaster Recovery </vt:lpstr>
      <vt:lpstr>Gye Nyame – The Root of Trust</vt:lpstr>
      <vt:lpstr>Anansentan– Mesh Topology &amp; Wisdom</vt:lpstr>
      <vt:lpstr>Sepow – Encryption &amp; Non-Repudiation</vt:lpstr>
      <vt:lpstr>Duafe – Beauty and System Hardening</vt:lpstr>
      <vt:lpstr>Nkyinkyim– Agility and The Hacker Mindset</vt:lpstr>
      <vt:lpstr>Akoben – Incident Response &amp; Alarms</vt:lpstr>
      <vt:lpstr>Mate Masie– Knowledge Management &amp; Data Storage</vt:lpstr>
      <vt:lpstr>Nyame Nti– Power Supply and Availability</vt:lpstr>
      <vt:lpstr>Eban – The Firewall</vt:lpstr>
      <vt:lpstr>Mpatapo – Conflict Resolution &amp; VPNs</vt:lpstr>
      <vt:lpstr>Hwe Mu Dua – Quality Control and Benchmarking</vt:lpstr>
      <vt:lpstr>Gender Awareness in Digital Spaces</vt:lpstr>
      <vt:lpstr>The Cyber-Adinkra Future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Adinkra Protocol</dc:title>
  <dc:creator>John Ndirangu</dc:creator>
  <cp:lastModifiedBy>John Ndirangu</cp:lastModifiedBy>
  <cp:revision>3</cp:revision>
  <dcterms:created xsi:type="dcterms:W3CDTF">2026-01-30T17:53:14Z</dcterms:created>
  <dcterms:modified xsi:type="dcterms:W3CDTF">2026-01-30T18:16:14Z</dcterms:modified>
</cp:coreProperties>
</file>